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2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640080"/>
            <a:ext cx="2011680" cy="2011680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95560" y="2057400"/>
            <a:ext cx="1005840" cy="1005840"/>
          </a:xfrm>
          <a:prstGeom prst="ellipse">
            <a:avLst/>
          </a:prstGeom>
          <a:solidFill>
            <a:srgbClr val="5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32520" y="2788920"/>
            <a:ext cx="594360" cy="594360"/>
          </a:xfrm>
          <a:prstGeom prst="ellipse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7863840" cy="1828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8FAFC"/>
                </a:solidFill>
                <a:latin typeface="Aptos"/>
              </a:rPr>
              <a:t>PHISHING
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3152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5FD6E6"/>
                </a:solidFill>
                <a:latin typeface="Aptos"/>
              </a:rPr>
              <a:t>Recognise the bait. Protect your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69494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8C6D8"/>
                </a:solidFill>
                <a:latin typeface="Aptos"/>
              </a:rPr>
              <a:t>CodeAlpha Cybersecurity Internship • Task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722376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8FAFC"/>
                </a:solidFill>
                <a:latin typeface="Aptos"/>
              </a:rPr>
              <a:t>A practical learning module with examples, safety tips and interactive quizzes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4754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B8C6D8"/>
                </a:solidFill>
                <a:latin typeface="Aptos"/>
              </a:rPr>
              <a:t>P</a:t>
            </a:r>
            <a:r>
              <a:rPr lang="en-US" sz="1300" b="0" dirty="0">
                <a:solidFill>
                  <a:srgbClr val="B8C6D8"/>
                </a:solidFill>
                <a:latin typeface="Aptos"/>
              </a:rPr>
              <a:t>REPARED BY</a:t>
            </a:r>
            <a:r>
              <a:rPr sz="1300" b="0" dirty="0">
                <a:solidFill>
                  <a:srgbClr val="B8C6D8"/>
                </a:solidFill>
                <a:latin typeface="Aptos"/>
              </a:rPr>
              <a:t>:</a:t>
            </a:r>
            <a:r>
              <a:rPr lang="en-US" sz="1300" b="0" dirty="0">
                <a:solidFill>
                  <a:srgbClr val="B8C6D8"/>
                </a:solidFill>
                <a:latin typeface="Aptos"/>
              </a:rPr>
              <a:t> NATASHA SIAN BANDA</a:t>
            </a:r>
            <a:r>
              <a:rPr sz="1300" b="0" dirty="0">
                <a:solidFill>
                  <a:srgbClr val="B8C6D8"/>
                </a:solidFill>
                <a:latin typeface="Apto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What you will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241280" cy="42062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Explain phishing and why attackers use it.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Spot warning signs in suspicious emails, messages and websites.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Recognise social engineering tactics such as urgency, fear and impersonation.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Apply safe habits to protect accounts, devices and personal information.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Practise making safe decisions through real-world-style examples and quizzes.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THE BASIC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What is phishing?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6400800" cy="2057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8FAFC"/>
                </a:solidFill>
                <a:latin typeface="Aptos"/>
              </a:rPr>
              <a:t>Phishing is a type of cyberattack in which a criminal pretends to be a trusted person or organisation to trick someone into revealing information, opening a harmful attachment, or visiting a fake website.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737360"/>
            <a:ext cx="3474720" cy="105156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26679" y="1737360"/>
            <a:ext cx="64008" cy="105156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7848" y="188366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BEAA"/>
                </a:solidFill>
                <a:latin typeface="Aptos"/>
              </a:rPr>
              <a:t>THE BAIT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304288"/>
            <a:ext cx="3108960" cy="3749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A message that looks believable.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999232"/>
            <a:ext cx="3474720" cy="105156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2999232"/>
            <a:ext cx="64008" cy="105156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3145536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B14A"/>
                </a:solidFill>
                <a:latin typeface="Aptos"/>
              </a:rPr>
              <a:t>THE TRICK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566160"/>
            <a:ext cx="3108960" cy="3749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Pressure you to click, pay or share.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261104"/>
            <a:ext cx="3474720" cy="105156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26679" y="4261104"/>
            <a:ext cx="64008" cy="1051560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8" y="4407408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675"/>
                </a:solidFill>
                <a:latin typeface="Aptos"/>
              </a:rPr>
              <a:t>THE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4828032"/>
            <a:ext cx="3108960" cy="3749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Steal data, money or account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640080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FD6E6"/>
                </a:solidFill>
                <a:latin typeface="Aptos"/>
              </a:rPr>
              <a:t>Phishing can arrive by email, SMS, social media, messaging apps or phone calls.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KNOW THE DIFFERENT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Common types of phishing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155448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155448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3794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BEAA"/>
                </a:solidFill>
                <a:latin typeface="Aptos"/>
              </a:rPr>
              <a:t>Email 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2971800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A fake bank, school, delivery or workplace email asks you to click a link.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337560" cy="155448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64008" cy="15544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3794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14A"/>
                </a:solidFill>
                <a:latin typeface="Aptos"/>
              </a:rPr>
              <a:t>Smishing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58568"/>
            <a:ext cx="2971800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A suspicious SMS says your package is delayed or your account will be blocked.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91640"/>
            <a:ext cx="3337560" cy="155448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691640"/>
            <a:ext cx="64008" cy="1554480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83794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6675"/>
                </a:solidFill>
                <a:latin typeface="Aptos"/>
              </a:rPr>
              <a:t>Spear phishing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258568"/>
            <a:ext cx="2971800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A tailored message uses your name, role or real details to seem convincing.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37560" cy="155448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64008" cy="1554480"/>
          </a:xfrm>
          <a:prstGeom prst="rect">
            <a:avLst/>
          </a:prstGeom>
          <a:solidFill>
            <a:srgbClr val="5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80390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FD6E6"/>
                </a:solidFill>
                <a:latin typeface="Aptos"/>
              </a:rPr>
              <a:t>Vishing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24528"/>
            <a:ext cx="2971800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A caller pretends to be support staff, a bank worker or an official.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57600"/>
            <a:ext cx="3337560" cy="155448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657600"/>
            <a:ext cx="64008" cy="1554480"/>
          </a:xfrm>
          <a:prstGeom prst="rect">
            <a:avLst/>
          </a:prstGeom>
          <a:solidFill>
            <a:srgbClr val="5B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80390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D291"/>
                </a:solidFill>
                <a:latin typeface="Aptos"/>
              </a:rPr>
              <a:t>Social media scams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24528"/>
            <a:ext cx="2971800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Fake giveaways, job offers or direct messages ask for money or login details.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657600"/>
            <a:ext cx="3337560" cy="155448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79" y="3657600"/>
            <a:ext cx="64008" cy="15544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6448" y="380390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14A"/>
                </a:solidFill>
                <a:latin typeface="Aptos"/>
              </a:rPr>
              <a:t>Clone / fake websites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224528"/>
            <a:ext cx="2971800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A copied login page collects your username, password or card details.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CHECK BEFORE YOU 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How to spot a phishing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5262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Unexpected requests for passwords, PINs, verification codes or banking details.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Urgent or threatening language: “Act now” or “Your account will be closed.”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Sender address or domain that is misspelled or does not match the organisation.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Unexpected attachments or links, especially files you were not expecting.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Generic greetings, strange wording, unusual formatting or spelling mistakes.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Offers that seem too good to be true, such as surprise prizes or guaranteed rewards.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INSPECT THE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How to recognise a fake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120640" cy="141732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64008" cy="141732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883664"/>
            <a:ext cx="4754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BEAA"/>
                </a:solidFill>
                <a:latin typeface="Aptos"/>
              </a:rPr>
              <a:t>CHECK THE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04288"/>
            <a:ext cx="4754879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Look carefully for swapped letters, extra words or unusual endings. A padlock alone does not prove a site is genuine.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120640" cy="141732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64008" cy="141732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83664"/>
            <a:ext cx="4754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B14A"/>
                </a:solidFill>
                <a:latin typeface="Aptos"/>
              </a:rPr>
              <a:t>DON’T TRUST THE LINK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04288"/>
            <a:ext cx="4754879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A button may display a trusted name but lead somewhere else. Hover over links on a computer to inspect the destination.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5120640" cy="141732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520440"/>
            <a:ext cx="64008" cy="1417320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666744"/>
            <a:ext cx="4754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675"/>
                </a:solidFill>
                <a:latin typeface="Aptos"/>
              </a:rPr>
              <a:t>LOOK FOR RED 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87368"/>
            <a:ext cx="4754879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Unexpected login prompts, spelling errors, broken pages or requests for excessive personal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5120640" cy="141732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64008" cy="1417320"/>
          </a:xfrm>
          <a:prstGeom prst="rect">
            <a:avLst/>
          </a:prstGeom>
          <a:solidFill>
            <a:srgbClr val="5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666744"/>
            <a:ext cx="4754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FD6E6"/>
                </a:solidFill>
                <a:latin typeface="Aptos"/>
              </a:rPr>
              <a:t>GO THERE YOURSELF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87368"/>
            <a:ext cx="4754879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Type the known official address or use a trusted bookmark instead of following an unexpected message link.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1498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B14A"/>
                </a:solidFill>
                <a:latin typeface="Aptos"/>
              </a:rPr>
              <a:t>Never enter sensitive details just to “check if it works.”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ATTACKERS MANIPULATE EMOTIONS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Social engineering: the human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074920" cy="114300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143000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83794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6675"/>
                </a:solidFill>
                <a:latin typeface="Aptos"/>
              </a:rPr>
              <a:t>Urgency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58568"/>
            <a:ext cx="4709159" cy="4663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“Your account will be locked in 10 minutes.”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074920" cy="114300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64008" cy="11430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3794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14A"/>
                </a:solidFill>
                <a:latin typeface="Aptos"/>
              </a:rPr>
              <a:t>Fear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58568"/>
            <a:ext cx="4709159" cy="4663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“You will be fined unless you act now.”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08960"/>
            <a:ext cx="5074920" cy="114300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108960"/>
            <a:ext cx="64008" cy="1143000"/>
          </a:xfrm>
          <a:prstGeom prst="rect">
            <a:avLst/>
          </a:prstGeom>
          <a:solidFill>
            <a:srgbClr val="5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25526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FD6E6"/>
                </a:solidFill>
                <a:latin typeface="Aptos"/>
              </a:rPr>
              <a:t>Authority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675888"/>
            <a:ext cx="4709159" cy="4663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“I’m the IT manager. Send your verification code.”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08960"/>
            <a:ext cx="5074920" cy="114300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108960"/>
            <a:ext cx="64008" cy="1143000"/>
          </a:xfrm>
          <a:prstGeom prst="rect">
            <a:avLst/>
          </a:prstGeom>
          <a:solidFill>
            <a:srgbClr val="5B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25526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D291"/>
                </a:solidFill>
                <a:latin typeface="Aptos"/>
              </a:rPr>
              <a:t>Curiosity / 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675888"/>
            <a:ext cx="4709159" cy="4663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“You won a phone—open this link.”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526280"/>
            <a:ext cx="5074920" cy="114300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526280"/>
            <a:ext cx="64008" cy="1143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467258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BEAA"/>
                </a:solidFill>
                <a:latin typeface="Aptos"/>
              </a:rPr>
              <a:t>Trust / familiarity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5093208"/>
            <a:ext cx="4709159" cy="4663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A message pretends to come from a friend or lecturer.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526280"/>
            <a:ext cx="5074920" cy="114300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526280"/>
            <a:ext cx="64008" cy="1143000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7" y="467258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6675"/>
                </a:solidFill>
                <a:latin typeface="Aptos"/>
              </a:rPr>
              <a:t>Secrecy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5093208"/>
            <a:ext cx="4709159" cy="4663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Aptos"/>
              </a:rPr>
              <a:t>“Don’t tell anyone; transfer the money immediately.”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REALISTIC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Examples: what could go wrong?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164592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1645920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3794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6675"/>
                </a:solidFill>
                <a:latin typeface="Aptos"/>
              </a:rPr>
              <a:t>EXAMPLE 1 • FAKE BANK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489204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“Your account is suspended. Confirm your PIN using this link.”
Risk: credential theft and possible financial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164592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64008" cy="164592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3794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14A"/>
                </a:solidFill>
                <a:latin typeface="Aptos"/>
              </a:rPr>
              <a:t>EXAMPLE 2 • FAKE CAMPUS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58568"/>
            <a:ext cx="489204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A message claims to contain exam results and asks you to enable macros in an attachment.
Risk: malware infection or data theft.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57800" cy="164592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64008" cy="1645920"/>
          </a:xfrm>
          <a:prstGeom prst="rect">
            <a:avLst/>
          </a:prstGeom>
          <a:solidFill>
            <a:srgbClr val="5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80390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FD6E6"/>
                </a:solidFill>
                <a:latin typeface="Aptos"/>
              </a:rPr>
              <a:t>EXAMPLE 3 • FAKE JOB 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24528"/>
            <a:ext cx="489204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A recruiter promises a guaranteed job but demands an upfront “processing fee.”
Risk: financial scam and identity theft.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257800" cy="164592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64008" cy="164592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803904"/>
            <a:ext cx="4892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BEAA"/>
                </a:solidFill>
                <a:latin typeface="Aptos"/>
              </a:rPr>
              <a:t>EXAMPLE 4 • FRIEND IN TROUBLE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24528"/>
            <a:ext cx="489204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A compromised account asks you to urgently send money or share a code.
Risk: impersonation and account takeover.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8C6D8"/>
                </a:solidFill>
                <a:latin typeface="Aptos"/>
              </a:rPr>
              <a:t>These are illustrative scenarios based on common scam patterns, not claims about one specific incident.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A SIMPLE SAFETY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Best practices: stay safer online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789920" cy="46634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Pause. Verify urgent or unusual requests using a separate trusted channel.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Never share passwords, PINs, one-time codes or recovery codes with someone who contacts you.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Use unique, strong passwords and a reputable password manager.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Enable multi-factor authentication (MFA), preferably using an authenticator app or security key where available.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Keep your operating system, browser and apps updated; use reputable security software.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Avoid opening unexpected attachments or enabling macros; confirm with the sender first.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Use official apps or type official website addresses yourself.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Back up important files and use secure Wi-Fi; avoid sensitive transactions on untrusted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RESPOND QUICKLY—DON’T HIDE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What to do if you clicked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Stop interacting with the message or website. Do not enter more information.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If you entered a password, change it immediately through the official site and change it anywhere else you reused it.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Contact your bank or mobile-money provider immediately if financial details or money may be at risk.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Report the message to your email provider, platform, organisation or IT/security team.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Run a trusted security scan and follow your organisation’s device guidance if you opened a suspicious file.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Save evidence such as the sender, message and time, but do not forward the harmful link to others.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If you entered a one-time code, tell the relevant provider promptly and review account sessions.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PAUSE AND CHOOSE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Quick quiz 1: Spot the red 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FD6E6"/>
                </a:solidFill>
                <a:latin typeface="Aptos"/>
              </a:rPr>
              <a:t>You receive this message: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10515600" cy="141732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64008" cy="1417320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03704"/>
            <a:ext cx="101498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675"/>
                </a:solidFill>
                <a:latin typeface="Aptos"/>
              </a:rPr>
              <a:t>“URGENT: Your student account will be deleted today. Click here and enter your password to keep it active.”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24328"/>
            <a:ext cx="10149840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36576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8FAFC"/>
                </a:solidFill>
                <a:latin typeface="Aptos"/>
              </a:rPr>
              <a:t>What should you 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10058400" cy="1645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A. Click immediately so you do not lose access.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B. Reply with your password to confirm your identity.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C. Do not click; check your account using the official portal or a trusted contact.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CHECK YOUR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Quiz answers and challenge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074920" cy="132588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64008" cy="1325880"/>
          </a:xfrm>
          <a:prstGeom prst="rect">
            <a:avLst/>
          </a:prstGeom>
          <a:solidFill>
            <a:srgbClr val="5B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792224"/>
            <a:ext cx="470915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D291"/>
                </a:solidFill>
                <a:latin typeface="Aptos"/>
              </a:rPr>
              <a:t>QUIZ 1 ANSWER: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12848"/>
            <a:ext cx="4709159" cy="6492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Urgency plus a password request is a red flag. Verify through the official portal.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7432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BEAA"/>
                </a:solidFill>
                <a:latin typeface="Aptos"/>
              </a:rPr>
              <a:t>QUIZ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4754880" cy="12801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8FAFC"/>
                </a:solidFill>
                <a:latin typeface="Aptos"/>
              </a:rPr>
              <a:t>A caller says they are from IT and asks for the six-digit code sent to your phone. What is the safest response?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657600"/>
            <a:ext cx="4937760" cy="1645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A. Give them the code because they sound professional.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B. Refuse to share it and contact IT using a known official channel.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C. Send a screenshot of the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532120"/>
            <a:ext cx="3657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BD291"/>
                </a:solidFill>
                <a:latin typeface="Aptos"/>
              </a:rPr>
              <a:t>Correct answer: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DISCUSS OR VOTE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Interactive quiz 3: Is the site genuine?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F8FAFC"/>
                </a:solidFill>
                <a:latin typeface="Aptos"/>
              </a:rPr>
              <a:t>A message links to “yourbank-secure-login.example”. It asks for your password and card PIN. The page has a padlock icon.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337560"/>
            <a:ext cx="3246120" cy="137160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3337560"/>
            <a:ext cx="64008" cy="1371600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348386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6675"/>
                </a:solidFill>
                <a:latin typeface="Aptos"/>
              </a:rPr>
              <a:t>A • TRUST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904487"/>
            <a:ext cx="2880360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It has a padlock, so it is safe.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337560"/>
            <a:ext cx="3246120" cy="137160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337560"/>
            <a:ext cx="64008" cy="1371600"/>
          </a:xfrm>
          <a:prstGeom prst="rect">
            <a:avLst/>
          </a:prstGeom>
          <a:solidFill>
            <a:srgbClr val="5B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348386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BD291"/>
                </a:solidFill>
                <a:latin typeface="Aptos"/>
              </a:rPr>
              <a:t>B • CHECK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904487"/>
            <a:ext cx="2880360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The domain and request are suspicious; use the official app/site.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337560"/>
            <a:ext cx="3246120" cy="137160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3337560"/>
            <a:ext cx="64008" cy="13716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348386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14A"/>
                </a:solidFill>
                <a:latin typeface="Aptos"/>
              </a:rPr>
              <a:t>C • TEST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904487"/>
            <a:ext cx="2880360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Enter fake details to see what happens.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66360"/>
            <a:ext cx="1060704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5FD6E6"/>
                </a:solidFill>
                <a:latin typeface="Aptos"/>
              </a:rPr>
              <a:t>Correct answer: B. HTTPS encrypts the connection but does not prove that the website belongs to the real organisation.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USE THE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Mini activity: investigate a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8FAFC"/>
                </a:solidFill>
                <a:latin typeface="Aptos"/>
              </a:rPr>
              <a:t>In pairs or individually, inspect a suspicious message (do not click any links).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241280" cy="34747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Who appears to have sent it? Does the sender address match?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What does the message want you to do?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Does it use urgency, fear, authority or a reward?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Are there links, attachments or requests for sensitive information?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How can you verify the request safely?</a:t>
            </a:r>
          </a:p>
          <a:p>
            <a:pPr>
              <a:spcAft>
                <a:spcPts val="11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What would you do next, and who would you report it 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B14A"/>
                </a:solidFill>
                <a:latin typeface="Aptos"/>
              </a:rPr>
              <a:t>Goal: explain your decision using evidence—not just a feeling.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HELP PROTECT OTHERS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How to report phishing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337560" cy="192024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64008" cy="1920240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2938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675"/>
                </a:solidFill>
                <a:latin typeface="Aptos"/>
              </a:rPr>
              <a:t>1 • DON’T ENGAGE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50008"/>
            <a:ext cx="2971800" cy="12435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Do not reply, click links or download attachments.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337560" cy="192024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64008" cy="192024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2938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BEAA"/>
                </a:solidFill>
                <a:latin typeface="Aptos"/>
              </a:rPr>
              <a:t>2 •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50008"/>
            <a:ext cx="2971800" cy="12435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Use the email or platform’s report-phishing option; notify your organisation or campus IT team where relevant.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83080"/>
            <a:ext cx="3337560" cy="1920240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783080"/>
            <a:ext cx="64008" cy="1920240"/>
          </a:xfrm>
          <a:prstGeom prst="rect">
            <a:avLst/>
          </a:prstGeom>
          <a:solidFill>
            <a:srgbClr val="5F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2938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FD6E6"/>
                </a:solidFill>
                <a:latin typeface="Aptos"/>
              </a:rPr>
              <a:t>3 • DELETE /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50008"/>
            <a:ext cx="2971800" cy="12435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After reporting and following local guidance, remove the message and block the sender if appropriate.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033272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8FAFC"/>
                </a:solidFill>
                <a:latin typeface="Aptos"/>
              </a:rPr>
              <a:t>For suspected financial fraud, contact your bank or mobile-money provider through its official contact details.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100584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B14A"/>
                </a:solidFill>
                <a:latin typeface="Aptos"/>
              </a:rPr>
              <a:t>Never publish private account details or forward a dangerous link as a warning.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Remember: STOP • CHECK •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246120" cy="1874519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64008" cy="1874519"/>
          </a:xfrm>
          <a:prstGeom prst="rect">
            <a:avLst/>
          </a:prstGeom>
          <a:solidFill>
            <a:srgbClr val="FF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97510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6675"/>
                </a:solidFill>
                <a:latin typeface="Aptos"/>
              </a:rP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95728"/>
            <a:ext cx="2880360" cy="11978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Pause when a message creates pressure or promises a reward.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46120" cy="1874519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64008" cy="1874519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B14A"/>
                </a:solidFill>
                <a:latin typeface="Aptos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95728"/>
            <a:ext cx="2880360" cy="11978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Inspect the sender, link, attachment and request.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246120" cy="1874519"/>
          </a:xfrm>
          <a:prstGeom prst="roundRect">
            <a:avLst/>
          </a:prstGeom>
          <a:solidFill>
            <a:srgbClr val="1F3453"/>
          </a:solidFill>
          <a:ln>
            <a:solidFill>
              <a:srgbClr val="364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64008" cy="1874519"/>
          </a:xfrm>
          <a:prstGeom prst="rect">
            <a:avLst/>
          </a:prstGeom>
          <a:solidFill>
            <a:srgbClr val="5B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75104"/>
            <a:ext cx="28803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5BD291"/>
                </a:solidFill>
                <a:latin typeface="Aptos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95728"/>
            <a:ext cx="2880360" cy="11978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Use a separate trusted channel or official website/app.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24128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Aptos"/>
              </a:rPr>
              <a:t>Your safest response is often to pause and verify—not to click.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5FD6E6"/>
                </a:solidFill>
                <a:latin typeface="Aptos"/>
              </a:rPr>
              <a:t>Questions? Share one warning sign you will look for from now 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0BEAA"/>
                </a:solidFill>
                <a:latin typeface="Aptos"/>
              </a:rPr>
              <a:t>TRUSTED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Further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51560" cy="50292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B8C6D8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98480" cy="34747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CISA — Recognize and Report Phishing: https://www.cisa.gov/secure-our-world/recognize-and-report-phishing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FTC — How to Recognize and Avoid Phishing Scams: https://consumer.ftc.gov/articles/how-recognize-and-avoid-phishing-scams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Google Safety Center — Phishing and suspicious messages: https://safety.google/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Microsoft Support — Protect yourself from phishing: https://support.microsoft.com/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105156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FD6E6"/>
                </a:solidFill>
                <a:latin typeface="Aptos"/>
              </a:rPr>
              <a:t>Use official help pages and your institution’s IT/security reporting process for current guidance.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10528"/>
            <a:ext cx="98755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B8C6D8"/>
                </a:solidFill>
                <a:latin typeface="Aptos"/>
              </a:rPr>
              <a:t>CODEALPHA • TASK 2: PHISHING AWARENESS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1810</Words>
  <Application>Microsoft Office PowerPoint</Application>
  <PresentationFormat>Widescreen</PresentationFormat>
  <Paragraphs>197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 - CodeAlpha Task 2</dc:title>
  <dc:subject>Phishing emails, fake websites, social engineering, best practices, real-world-style examples and quizzes</dc:subject>
  <dc:creator>Prepared for CodeAlpha Cybersecurity Internship</dc:creator>
  <cp:keywords>phishing, cybersecurity, awareness, CodeAlpha, social engineering</cp:keywords>
  <dc:description>generated using python-pptx</dc:description>
  <cp:lastModifiedBy>Natasha Banda</cp:lastModifiedBy>
  <cp:revision>2</cp:revision>
  <dcterms:created xsi:type="dcterms:W3CDTF">2013-01-27T09:14:16Z</dcterms:created>
  <dcterms:modified xsi:type="dcterms:W3CDTF">2026-10-29T11:40:33Z</dcterms:modified>
  <cp:category/>
</cp:coreProperties>
</file>